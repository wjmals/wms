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6"/>
  </p:notesMasterIdLst>
  <p:sldIdLst>
    <p:sldId id="256" r:id="rId2"/>
    <p:sldId id="257" r:id="rId3"/>
    <p:sldId id="258" r:id="rId4"/>
    <p:sldId id="260" r:id="rId5"/>
  </p:sldIdLst>
  <p:sldSz cx="12192000" cy="6858000"/>
  <p:notesSz cx="6858000" cy="9144000"/>
  <p:embeddedFontLst>
    <p:embeddedFont>
      <p:font typeface="Calibri" panose="020F0502020204030204" pitchFamily="34" charset="0"/>
      <p:regular r:id="rId7"/>
      <p:bold r:id="rId8"/>
      <p:italic r:id="rId9"/>
      <p:boldItalic r:id="rId10"/>
    </p:embeddedFont>
    <p:embeddedFont>
      <p:font typeface="Noto Sans KR" panose="020B0200000000000000" pitchFamily="50" charset="-127"/>
      <p:regular r:id="rId11"/>
      <p:bold r:id="rId12"/>
    </p:embeddedFont>
    <p:embeddedFont>
      <p:font typeface="Inter" panose="020B0600000101010101" charset="0"/>
      <p:regular r:id="rId13"/>
      <p:bold r:id="rId14"/>
      <p:italic r:id="rId15"/>
      <p:boldItalic r:id="rId16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678" y="10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notesMaster" Target="notesMasters/notes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font" Target="fonts/font5.fntdata"/><Relationship Id="rId12" Type="http://schemas.openxmlformats.org/officeDocument/2006/relationships/font" Target="fonts/font6.fntdata"/><Relationship Id="rId13" Type="http://schemas.openxmlformats.org/officeDocument/2006/relationships/font" Target="fonts/font7.fntdata"/><Relationship Id="rId14" Type="http://schemas.openxmlformats.org/officeDocument/2006/relationships/font" Target="fonts/font8.fntdata"/><Relationship Id="rId15" Type="http://schemas.openxmlformats.org/officeDocument/2006/relationships/font" Target="fonts/font9.fntdata"/><Relationship Id="rId16" Type="http://schemas.openxmlformats.org/officeDocument/2006/relationships/font" Target="fonts/font10.fntdata"/><Relationship Id="rId17" Type="http://schemas.openxmlformats.org/officeDocument/2006/relationships/presProps" Target="presProps.xml"/><Relationship Id="rId18" Type="http://schemas.openxmlformats.org/officeDocument/2006/relationships/viewProps" Target="viewProps.xml"/><Relationship Id="rId19" Type="http://schemas.openxmlformats.org/officeDocument/2006/relationships/theme" Target="theme/theme1.xml"/><Relationship Id="rId20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2" name="Google Shape;242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3" name="Google Shape;13;p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4" name="Google Shape;14;p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3"/>
          <p:cNvSpPr txBox="1"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18" name="Google Shape;18;p3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4" name="Google Shape;24;p4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sz="4000" b="1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5"/>
          <p:cNvSpPr txBox="1"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marL="914400" lvl="1" indent="-2286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marL="1371600" lvl="2" indent="-228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marL="1828800" lvl="3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marL="2286000" lvl="4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marL="2743200" lvl="5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marL="3200400" lvl="6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marL="3657600" lvl="7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marL="4114800" lvl="8" indent="-228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30" name="Google Shape;30;p5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5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5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6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6" name="Google Shape;36;p6"/>
          <p:cNvSpPr txBox="1">
            <a:spLocks noGrp="1"/>
          </p:cNvSpPr>
          <p:nvPr>
            <p:ph type="body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marL="914400" lvl="1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marL="1371600" lvl="2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>
            <a:endParaRPr/>
          </a:p>
        </p:txBody>
      </p:sp>
      <p:sp>
        <p:nvSpPr>
          <p:cNvPr id="37" name="Google Shape;37;p6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6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6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7"/>
          <p:cNvSpPr txBox="1"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3" name="Google Shape;43;p7"/>
          <p:cNvSpPr txBox="1">
            <a:spLocks noGrp="1"/>
          </p:cNvSpPr>
          <p:nvPr>
            <p:ph type="body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4" name="Google Shape;44;p7"/>
          <p:cNvSpPr txBox="1">
            <a:spLocks noGrp="1"/>
          </p:cNvSpPr>
          <p:nvPr>
            <p:ph type="body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45" name="Google Shape;45;p7"/>
          <p:cNvSpPr txBox="1">
            <a:spLocks noGrp="1"/>
          </p:cNvSpPr>
          <p:nvPr>
            <p:ph type="body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marL="2286000" lvl="4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marL="2743200" lvl="5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marL="3200400" lvl="6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marL="3657600" lvl="7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marL="4114800" lvl="8" indent="-330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>
            <a:endParaRPr/>
          </a:p>
        </p:txBody>
      </p:sp>
      <p:sp>
        <p:nvSpPr>
          <p:cNvPr id="46" name="Google Shape;46;p7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" name="Google Shape;47;p7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8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8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3" name="Google Shape;53;p8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9"/>
          <p:cNvSpPr txBox="1">
            <a:spLocks noGrp="1"/>
          </p:cNvSpPr>
          <p:nvPr>
            <p:ph type="body"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marL="1371600" lvl="2" indent="-381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marL="2286000" lvl="4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marL="2743200" lvl="5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57" name="Google Shape;57;p9"/>
          <p:cNvSpPr txBox="1">
            <a:spLocks noGrp="1"/>
          </p:cNvSpPr>
          <p:nvPr>
            <p:ph type="body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58" name="Google Shape;58;p9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9" name="Google Shape;59;p9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sz="2000" b="1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10"/>
          <p:cNvSpPr>
            <a:spLocks noGrp="1"/>
          </p:cNvSpPr>
          <p:nvPr>
            <p:ph type="pic" idx="2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>
            <a:spLocks noGrp="1"/>
          </p:cNvSpPr>
          <p:nvPr>
            <p:ph type="body" idx="1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marL="914400" lvl="1" indent="-228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marL="1371600" lvl="2" indent="-228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marL="1828800" lvl="3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marL="2286000" lvl="4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marL="2743200" lvl="5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marL="3200400" lvl="6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marL="3657600" lvl="7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marL="4114800" lvl="8" indent="-228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>
            <a:endParaRPr/>
          </a:p>
        </p:txBody>
      </p:sp>
      <p:sp>
        <p:nvSpPr>
          <p:cNvPr id="65" name="Google Shape;65;p10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6" name="Google Shape;66;p10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1"/>
          <p:cNvSpPr txBox="1">
            <a:spLocks noGrp="1"/>
          </p:cNvSpPr>
          <p:nvPr>
            <p:ph type="body" idx="1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1" name="Google Shape;71;p1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2" name="Google Shape;72;p1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3" name="Google Shape;73;p1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>
            <a:spLocks noGrp="1"/>
          </p:cNvSpPr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2"/>
          <p:cNvSpPr txBox="1">
            <a:spLocks noGrp="1"/>
          </p:cNvSpPr>
          <p:nvPr>
            <p:ph type="body" idx="1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marL="1371600" lvl="2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marL="2286000" lvl="4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marL="2743200" lvl="5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7" name="Google Shape;77;p12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8" name="Google Shape;78;p12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12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31800" algn="l" rtl="0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sz="3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406400" algn="l" rtl="0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81000" algn="l" rtl="0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55600" algn="l" rtl="0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dt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9" name="Google Shape;9;p1"/>
          <p:cNvSpPr txBox="1">
            <a:spLocks noGrp="1"/>
          </p:cNvSpPr>
          <p:nvPr>
            <p:ph type="ft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0" name="Google Shape;10;p1"/>
          <p:cNvSpPr txBox="1">
            <a:spLocks noGrp="1"/>
          </p:cNvSpPr>
          <p:nvPr>
            <p:ph type="sldNum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7.png"/><Relationship Id="rId5" Type="http://schemas.openxmlformats.org/officeDocument/2006/relationships/image" Target="../media/image8.png"/><Relationship Id="rId6" Type="http://schemas.openxmlformats.org/officeDocument/2006/relationships/image" Target="../media/image9.png"/><Relationship Id="rId7" Type="http://schemas.openxmlformats.org/officeDocument/2006/relationships/image" Target="../media/image10.png"/><Relationship Id="rId8" Type="http://schemas.openxmlformats.org/officeDocument/2006/relationships/image" Target="../media/image11.png"/><Relationship Id="rId9" Type="http://schemas.openxmlformats.org/officeDocument/2006/relationships/image" Target="../media/image12.png"/><Relationship Id="rId10" Type="http://schemas.openxmlformats.org/officeDocument/2006/relationships/image" Target="../media/image13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4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Relationship Id="rId6" Type="http://schemas.openxmlformats.org/officeDocument/2006/relationships/image" Target="../media/image17.png"/><Relationship Id="rId7" Type="http://schemas.openxmlformats.org/officeDocument/2006/relationships/image" Target="../media/image1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9.pn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/>
          <p:nvPr/>
        </p:nvSpPr>
        <p:spPr>
          <a:xfrm>
            <a:off x="609600" y="5915025"/>
            <a:ext cx="10972800" cy="485775"/>
          </a:xfrm>
          <a:prstGeom prst="roundRect">
            <a:avLst>
              <a:gd name="adj" fmla="val 15686"/>
            </a:avLst>
          </a:prstGeom>
          <a:solidFill>
            <a:srgbClr val="1B2335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13"/>
          <p:cNvSpPr/>
          <p:nvPr/>
        </p:nvSpPr>
        <p:spPr>
          <a:xfrm>
            <a:off x="9390459" y="457200"/>
            <a:ext cx="2191940" cy="1104900"/>
          </a:xfrm>
          <a:prstGeom prst="roundRect">
            <a:avLst>
              <a:gd name="adj" fmla="val 10344"/>
            </a:avLst>
          </a:prstGeom>
          <a:solidFill>
            <a:srgbClr val="1E293B"/>
          </a:solidFill>
          <a:ln w="9525" cap="flat" cmpd="sng">
            <a:solidFill>
              <a:srgbClr val="33415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13"/>
          <p:cNvSpPr/>
          <p:nvPr/>
        </p:nvSpPr>
        <p:spPr>
          <a:xfrm>
            <a:off x="609600" y="3086100"/>
            <a:ext cx="2600325" cy="1419225"/>
          </a:xfrm>
          <a:prstGeom prst="roundRect">
            <a:avLst>
              <a:gd name="adj" fmla="val 8053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13"/>
          <p:cNvSpPr/>
          <p:nvPr/>
        </p:nvSpPr>
        <p:spPr>
          <a:xfrm>
            <a:off x="3400425" y="3086100"/>
            <a:ext cx="2600325" cy="1419225"/>
          </a:xfrm>
          <a:prstGeom prst="roundRect">
            <a:avLst>
              <a:gd name="adj" fmla="val 8053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13"/>
          <p:cNvSpPr/>
          <p:nvPr/>
        </p:nvSpPr>
        <p:spPr>
          <a:xfrm>
            <a:off x="6191250" y="3086100"/>
            <a:ext cx="2600325" cy="1419225"/>
          </a:xfrm>
          <a:prstGeom prst="roundRect">
            <a:avLst>
              <a:gd name="adj" fmla="val 8053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9" name="Google Shape;89;p13"/>
          <p:cNvSpPr/>
          <p:nvPr/>
        </p:nvSpPr>
        <p:spPr>
          <a:xfrm>
            <a:off x="8982075" y="3086100"/>
            <a:ext cx="2600325" cy="1419225"/>
          </a:xfrm>
          <a:prstGeom prst="roundRect">
            <a:avLst>
              <a:gd name="adj" fmla="val 8053"/>
            </a:avLst>
          </a:prstGeom>
          <a:solidFill>
            <a:srgbClr val="1E293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0" name="Google Shape;90;p13"/>
          <p:cNvSpPr/>
          <p:nvPr/>
        </p:nvSpPr>
        <p:spPr>
          <a:xfrm>
            <a:off x="609600" y="457200"/>
            <a:ext cx="2332285" cy="266700"/>
          </a:xfrm>
          <a:prstGeom prst="roundRect">
            <a:avLst>
              <a:gd name="adj" fmla="val 21428"/>
            </a:avLst>
          </a:prstGeom>
          <a:solidFill>
            <a:srgbClr val="13265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1" name="Google Shape;91;p13"/>
          <p:cNvSpPr/>
          <p:nvPr/>
        </p:nvSpPr>
        <p:spPr>
          <a:xfrm>
            <a:off x="609600" y="3086100"/>
            <a:ext cx="2600325" cy="38100"/>
          </a:xfrm>
          <a:prstGeom prst="rect">
            <a:avLst/>
          </a:prstGeom>
          <a:solidFill>
            <a:srgbClr val="3B82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13"/>
          <p:cNvSpPr/>
          <p:nvPr/>
        </p:nvSpPr>
        <p:spPr>
          <a:xfrm>
            <a:off x="3400425" y="3086100"/>
            <a:ext cx="2600325" cy="38100"/>
          </a:xfrm>
          <a:prstGeom prst="rect">
            <a:avLst/>
          </a:prstGeom>
          <a:solidFill>
            <a:srgbClr val="10B98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13"/>
          <p:cNvSpPr/>
          <p:nvPr/>
        </p:nvSpPr>
        <p:spPr>
          <a:xfrm>
            <a:off x="6191250" y="3086100"/>
            <a:ext cx="2600325" cy="38100"/>
          </a:xfrm>
          <a:prstGeom prst="rect">
            <a:avLst/>
          </a:prstGeom>
          <a:solidFill>
            <a:srgbClr val="F59E0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13"/>
          <p:cNvSpPr/>
          <p:nvPr/>
        </p:nvSpPr>
        <p:spPr>
          <a:xfrm>
            <a:off x="8982075" y="3086100"/>
            <a:ext cx="2600325" cy="38100"/>
          </a:xfrm>
          <a:prstGeom prst="rect">
            <a:avLst/>
          </a:prstGeom>
          <a:solidFill>
            <a:srgbClr val="8B5CF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95" name="Google Shape;95;p13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42950" y="514350"/>
            <a:ext cx="118616" cy="152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96" name="Google Shape;96;p13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847826" y="3352800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7" name="Google Shape;97;p13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5638651" y="3352800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3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8429476" y="3352800"/>
            <a:ext cx="133498" cy="200025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3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1220301" y="3352800"/>
            <a:ext cx="133498" cy="200025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3"/>
          <p:cNvSpPr txBox="1"/>
          <p:nvPr/>
        </p:nvSpPr>
        <p:spPr>
          <a:xfrm>
            <a:off x="838200" y="6067425"/>
            <a:ext cx="7680275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현황:</a:t>
            </a:r>
            <a:r>
              <a:rPr lang="en-US" sz="1125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 최초 요청 대비 60% 구현 · 운영 KPI 실측 전 (2026.10.07)</a:t>
            </a:r>
            <a:endParaRPr/>
          </a:p>
        </p:txBody>
      </p:sp>
      <p:sp>
        <p:nvSpPr>
          <p:cNvPr id="101" name="Google Shape;101;p13"/>
          <p:cNvSpPr txBox="1"/>
          <p:nvPr/>
        </p:nvSpPr>
        <p:spPr>
          <a:xfrm>
            <a:off x="8464301" y="6081712"/>
            <a:ext cx="3611872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SLIDE 01 · KPI TARGETS &amp; DELIVERY STATUS</a:t>
            </a:r>
            <a:endParaRPr/>
          </a:p>
        </p:txBody>
      </p:sp>
      <p:sp>
        <p:nvSpPr>
          <p:cNvPr id="102" name="Google Shape;102;p13"/>
          <p:cNvSpPr txBox="1"/>
          <p:nvPr/>
        </p:nvSpPr>
        <p:spPr>
          <a:xfrm>
            <a:off x="609600" y="876300"/>
            <a:ext cx="8928459" cy="45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 b="1" i="0" u="none" strike="noStrike" cap="non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SmartStock AI KPI 목표 및 이행 현황</a:t>
            </a:r>
            <a:endParaRPr/>
          </a:p>
        </p:txBody>
      </p:sp>
      <p:sp>
        <p:nvSpPr>
          <p:cNvPr id="103" name="Google Shape;103;p13"/>
          <p:cNvSpPr txBox="1"/>
          <p:nvPr/>
        </p:nvSpPr>
        <p:spPr>
          <a:xfrm>
            <a:off x="609600" y="1447800"/>
            <a:ext cx="8503294" cy="20774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최초 요청 완성본 대비 현재 구현률 60% · 아래 KPI는 목표값이며 달성 실적이 아닙니다</a:t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350" dirty="0" smtClean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350" b="0" i="0" u="none" strike="noStrike" cap="none" dirty="0" smtClean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35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35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dirty="0"/>
          </a:p>
        </p:txBody>
      </p:sp>
      <p:sp>
        <p:nvSpPr>
          <p:cNvPr id="104" name="Google Shape;104;p13"/>
          <p:cNvSpPr txBox="1"/>
          <p:nvPr/>
        </p:nvSpPr>
        <p:spPr>
          <a:xfrm>
            <a:off x="8932180" y="628650"/>
            <a:ext cx="2144613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최초 요청 완성본 대비</a:t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05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05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dirty="0"/>
          </a:p>
        </p:txBody>
      </p:sp>
      <p:sp>
        <p:nvSpPr>
          <p:cNvPr id="105" name="Google Shape;105;p13"/>
          <p:cNvSpPr txBox="1"/>
          <p:nvPr/>
        </p:nvSpPr>
        <p:spPr>
          <a:xfrm>
            <a:off x="8794543" y="826654"/>
            <a:ext cx="2144613" cy="41549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700" b="1" dirty="0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>60%</a:t>
            </a:r>
            <a:r>
              <a:rPr lang="en-US" sz="2700" b="1" i="0" u="none" strike="noStrike" cap="none" dirty="0" smtClean="0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2700" b="1" i="0" u="none" strike="noStrike" cap="none" dirty="0">
                <a:solidFill>
                  <a:srgbClr val="38BDF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dirty="0"/>
          </a:p>
        </p:txBody>
      </p:sp>
      <p:sp>
        <p:nvSpPr>
          <p:cNvPr id="106" name="Google Shape;106;p13"/>
          <p:cNvSpPr txBox="1"/>
          <p:nvPr/>
        </p:nvSpPr>
        <p:spPr>
          <a:xfrm>
            <a:off x="8664430" y="1235619"/>
            <a:ext cx="2144613" cy="16158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 dirty="0" err="1" smtClean="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>현재 구현 진행률</a:t>
            </a:r>
            <a:r>
              <a:rPr lang="en-US" sz="1050" b="0" i="0" u="none" strike="noStrike" cap="none" dirty="0" smtClean="0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050" b="0" i="0" u="none" strike="noStrike" cap="none" dirty="0" err="1">
                <a:solidFill>
                  <a:srgbClr val="E2E8F0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dirty="0"/>
          </a:p>
        </p:txBody>
      </p:sp>
      <p:sp>
        <p:nvSpPr>
          <p:cNvPr id="107" name="Google Shape;107;p13"/>
          <p:cNvSpPr txBox="1"/>
          <p:nvPr/>
        </p:nvSpPr>
        <p:spPr>
          <a:xfrm>
            <a:off x="838200" y="3629025"/>
            <a:ext cx="2678906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≥ 92%</a:t>
            </a:r>
            <a:endParaRPr/>
          </a:p>
        </p:txBody>
      </p:sp>
      <p:sp>
        <p:nvSpPr>
          <p:cNvPr id="108" name="Google Shape;108;p13"/>
          <p:cNvSpPr txBox="1"/>
          <p:nvPr/>
        </p:nvSpPr>
        <p:spPr>
          <a:xfrm>
            <a:off x="838200" y="4038600"/>
            <a:ext cx="2678906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목표 · MAPE ≤ 8%</a:t>
            </a:r>
            <a:endParaRPr/>
          </a:p>
        </p:txBody>
      </p:sp>
      <p:sp>
        <p:nvSpPr>
          <p:cNvPr id="109" name="Google Shape;109;p13"/>
          <p:cNvSpPr txBox="1"/>
          <p:nvPr/>
        </p:nvSpPr>
        <p:spPr>
          <a:xfrm>
            <a:off x="3629025" y="3629025"/>
            <a:ext cx="2678906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≥ 95%</a:t>
            </a:r>
            <a:endParaRPr/>
          </a:p>
        </p:txBody>
      </p:sp>
      <p:sp>
        <p:nvSpPr>
          <p:cNvPr id="110" name="Google Shape;110;p13"/>
          <p:cNvSpPr txBox="1"/>
          <p:nvPr/>
        </p:nvSpPr>
        <p:spPr>
          <a:xfrm>
            <a:off x="3629025" y="4038600"/>
            <a:ext cx="2678906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목표 · 운영 이력으로 평가</a:t>
            </a:r>
            <a:endParaRPr/>
          </a:p>
        </p:txBody>
      </p:sp>
      <p:sp>
        <p:nvSpPr>
          <p:cNvPr id="111" name="Google Shape;111;p13"/>
          <p:cNvSpPr txBox="1"/>
          <p:nvPr/>
        </p:nvSpPr>
        <p:spPr>
          <a:xfrm>
            <a:off x="6419850" y="3629025"/>
            <a:ext cx="2678906" cy="3524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&lt; 1.5%</a:t>
            </a:r>
            <a:endParaRPr/>
          </a:p>
        </p:txBody>
      </p:sp>
      <p:sp>
        <p:nvSpPr>
          <p:cNvPr id="112" name="Google Shape;112;p13"/>
          <p:cNvSpPr txBox="1"/>
          <p:nvPr/>
        </p:nvSpPr>
        <p:spPr>
          <a:xfrm>
            <a:off x="6419850" y="4038600"/>
            <a:ext cx="2678906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목표 · 미충족 수요 기록 필요</a:t>
            </a:r>
            <a:endParaRPr/>
          </a:p>
        </p:txBody>
      </p:sp>
      <p:sp>
        <p:nvSpPr>
          <p:cNvPr id="113" name="Google Shape;113;p13"/>
          <p:cNvSpPr txBox="1"/>
          <p:nvPr/>
        </p:nvSpPr>
        <p:spPr>
          <a:xfrm>
            <a:off x="9210675" y="3629025"/>
            <a:ext cx="2678906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&lt; 1.5초</a:t>
            </a:r>
            <a:endParaRPr/>
          </a:p>
        </p:txBody>
      </p:sp>
      <p:sp>
        <p:nvSpPr>
          <p:cNvPr id="114" name="Google Shape;114;p13"/>
          <p:cNvSpPr txBox="1"/>
          <p:nvPr/>
        </p:nvSpPr>
        <p:spPr>
          <a:xfrm>
            <a:off x="9210675" y="4105275"/>
            <a:ext cx="2678906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CBD5E1"/>
                </a:solidFill>
                <a:latin typeface="Noto Sans KR"/>
                <a:ea typeface="Noto Sans KR"/>
                <a:cs typeface="Noto Sans KR"/>
                <a:sym typeface="Noto Sans KR"/>
              </a:rPr>
              <a:t>목표 · 실서비스 지연시간 측정 전</a:t>
            </a:r>
            <a:endParaRPr/>
          </a:p>
        </p:txBody>
      </p:sp>
      <p:sp>
        <p:nvSpPr>
          <p:cNvPr id="115" name="Google Shape;115;p13"/>
          <p:cNvSpPr txBox="1"/>
          <p:nvPr/>
        </p:nvSpPr>
        <p:spPr>
          <a:xfrm>
            <a:off x="937766" y="514350"/>
            <a:ext cx="2338461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93C5FD"/>
                </a:solidFill>
                <a:latin typeface="Noto Sans KR"/>
                <a:ea typeface="Noto Sans KR"/>
                <a:cs typeface="Noto Sans KR"/>
                <a:sym typeface="Noto Sans KR"/>
              </a:rPr>
              <a:t>SMARTSTOCK AI PROJECT</a:t>
            </a:r>
            <a:endParaRPr/>
          </a:p>
        </p:txBody>
      </p:sp>
      <p:sp>
        <p:nvSpPr>
          <p:cNvPr id="116" name="Google Shape;116;p13"/>
          <p:cNvSpPr txBox="1"/>
          <p:nvPr/>
        </p:nvSpPr>
        <p:spPr>
          <a:xfrm>
            <a:off x="838200" y="3352800"/>
            <a:ext cx="210610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예측 정확도 목표</a:t>
            </a:r>
            <a:endParaRPr/>
          </a:p>
        </p:txBody>
      </p:sp>
      <p:sp>
        <p:nvSpPr>
          <p:cNvPr id="117" name="Google Shape;117;p13"/>
          <p:cNvSpPr txBox="1"/>
          <p:nvPr/>
        </p:nvSpPr>
        <p:spPr>
          <a:xfrm>
            <a:off x="3629025" y="3352800"/>
            <a:ext cx="1394966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안전재고 유지율</a:t>
            </a:r>
            <a:endParaRPr/>
          </a:p>
        </p:txBody>
      </p:sp>
      <p:sp>
        <p:nvSpPr>
          <p:cNvPr id="118" name="Google Shape;118;p13"/>
          <p:cNvSpPr txBox="1"/>
          <p:nvPr/>
        </p:nvSpPr>
        <p:spPr>
          <a:xfrm>
            <a:off x="6419850" y="3352800"/>
            <a:ext cx="143935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품절 발생률 목표</a:t>
            </a:r>
            <a:endParaRPr/>
          </a:p>
        </p:txBody>
      </p:sp>
      <p:sp>
        <p:nvSpPr>
          <p:cNvPr id="119" name="Google Shape;119;p13"/>
          <p:cNvSpPr txBox="1"/>
          <p:nvPr/>
        </p:nvSpPr>
        <p:spPr>
          <a:xfrm>
            <a:off x="9210675" y="3352800"/>
            <a:ext cx="1587624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0" i="0" u="none" strike="noStrike" cap="none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AI 응답 시간 목표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14"/>
          <p:cNvSpPr/>
          <p:nvPr/>
        </p:nvSpPr>
        <p:spPr>
          <a:xfrm>
            <a:off x="609600" y="6057900"/>
            <a:ext cx="10972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14"/>
          <p:cNvSpPr/>
          <p:nvPr/>
        </p:nvSpPr>
        <p:spPr>
          <a:xfrm>
            <a:off x="609600" y="1638300"/>
            <a:ext cx="6104632" cy="4191000"/>
          </a:xfrm>
          <a:prstGeom prst="roundRect">
            <a:avLst>
              <a:gd name="adj" fmla="val 3636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6" name="Google Shape;126;p14"/>
          <p:cNvSpPr/>
          <p:nvPr/>
        </p:nvSpPr>
        <p:spPr>
          <a:xfrm>
            <a:off x="609600" y="605790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14"/>
          <p:cNvSpPr/>
          <p:nvPr/>
        </p:nvSpPr>
        <p:spPr>
          <a:xfrm>
            <a:off x="923925" y="5029200"/>
            <a:ext cx="5475982" cy="485775"/>
          </a:xfrm>
          <a:prstGeom prst="roundRect">
            <a:avLst>
              <a:gd name="adj" fmla="val 15686"/>
            </a:avLst>
          </a:prstGeom>
          <a:solidFill>
            <a:srgbClr val="EFF6FF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14"/>
          <p:cNvSpPr/>
          <p:nvPr/>
        </p:nvSpPr>
        <p:spPr>
          <a:xfrm>
            <a:off x="7019032" y="1638300"/>
            <a:ext cx="4563367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9" name="Google Shape;129;p14"/>
          <p:cNvSpPr/>
          <p:nvPr/>
        </p:nvSpPr>
        <p:spPr>
          <a:xfrm>
            <a:off x="7019032" y="3086100"/>
            <a:ext cx="4563367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14"/>
          <p:cNvSpPr/>
          <p:nvPr/>
        </p:nvSpPr>
        <p:spPr>
          <a:xfrm>
            <a:off x="7019032" y="4533900"/>
            <a:ext cx="4563367" cy="1295400"/>
          </a:xfrm>
          <a:prstGeom prst="roundRect">
            <a:avLst>
              <a:gd name="adj" fmla="val 8823"/>
            </a:avLst>
          </a:prstGeom>
          <a:solidFill>
            <a:srgbClr val="F8FAFC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14"/>
          <p:cNvSpPr/>
          <p:nvPr/>
        </p:nvSpPr>
        <p:spPr>
          <a:xfrm>
            <a:off x="923925" y="2447925"/>
            <a:ext cx="5475982" cy="708570"/>
          </a:xfrm>
          <a:prstGeom prst="roundRect">
            <a:avLst>
              <a:gd name="adj" fmla="val 13442"/>
            </a:avLst>
          </a:prstGeom>
          <a:solidFill>
            <a:srgbClr val="FFFFFF"/>
          </a:solidFill>
          <a:ln w="9525" cap="flat" cmpd="sng">
            <a:solidFill>
              <a:srgbClr val="CBD5E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2" name="Google Shape;132;p14"/>
          <p:cNvSpPr/>
          <p:nvPr/>
        </p:nvSpPr>
        <p:spPr>
          <a:xfrm>
            <a:off x="923925" y="5029200"/>
            <a:ext cx="38100" cy="4857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33" name="Google Shape;133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7257157" y="20574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7257157" y="35052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5" name="Google Shape;135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7257157" y="4953000"/>
            <a:ext cx="457200" cy="457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6" name="Google Shape;136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923925" y="1952625"/>
            <a:ext cx="342900" cy="3429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7" name="Google Shape;137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7404199" y="2181225"/>
            <a:ext cx="16311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7404199" y="3629025"/>
            <a:ext cx="16311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39" name="Google Shape;139;p14" descr="image.png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7404199" y="5076825"/>
            <a:ext cx="16311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0" name="Google Shape;140;p14" descr="image.png"/>
          <p:cNvPicPr preferRelativeResize="0"/>
          <p:nvPr/>
        </p:nvPicPr>
        <p:blipFill rotWithShape="1">
          <a:blip r:embed="rId10">
            <a:alphaModFix/>
          </a:blip>
          <a:srcRect/>
          <a:stretch/>
        </p:blipFill>
        <p:spPr>
          <a:xfrm>
            <a:off x="1028551" y="2038350"/>
            <a:ext cx="133498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p14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SLIDE 02 · STOCK INTEGRITY &amp; APPROVALS</a:t>
            </a:r>
            <a:endParaRPr/>
          </a:p>
        </p:txBody>
      </p:sp>
      <p:sp>
        <p:nvSpPr>
          <p:cNvPr id="142" name="Google Shape;142;p14"/>
          <p:cNvSpPr txBox="1"/>
          <p:nvPr/>
        </p:nvSpPr>
        <p:spPr>
          <a:xfrm>
            <a:off x="609600" y="685800"/>
            <a:ext cx="11582400" cy="419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재고 변경은 수량·단위·근거를 함께 검증</a:t>
            </a:r>
            <a:endParaRPr/>
          </a:p>
        </p:txBody>
      </p:sp>
      <p:sp>
        <p:nvSpPr>
          <p:cNvPr id="143" name="Google Shape;143;p14"/>
          <p:cNvSpPr txBox="1"/>
          <p:nvPr/>
        </p:nvSpPr>
        <p:spPr>
          <a:xfrm>
            <a:off x="609600" y="1181100"/>
            <a:ext cx="11582400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기준 단위로 저장하고, 승인 전 추정·과거 거래는 잔량에 반영하지 않습니다.</a:t>
            </a:r>
            <a:endParaRPr/>
          </a:p>
        </p:txBody>
      </p:sp>
      <p:sp>
        <p:nvSpPr>
          <p:cNvPr id="144" name="Google Shape;144;p14"/>
          <p:cNvSpPr txBox="1"/>
          <p:nvPr/>
        </p:nvSpPr>
        <p:spPr>
          <a:xfrm>
            <a:off x="9813428" y="6234112"/>
            <a:ext cx="2211213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SmartStock AI · 업무 규칙</a:t>
            </a:r>
            <a:endParaRPr/>
          </a:p>
        </p:txBody>
      </p:sp>
      <p:sp>
        <p:nvSpPr>
          <p:cNvPr id="145" name="Google Shape;145;p14"/>
          <p:cNvSpPr txBox="1"/>
          <p:nvPr/>
        </p:nvSpPr>
        <p:spPr>
          <a:xfrm>
            <a:off x="609600" y="6219825"/>
            <a:ext cx="2962237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기록 추적:</a:t>
            </a:r>
            <a:r>
              <a:rPr lang="en-US" sz="1125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담당자·출처·사유를 함께 저장</a:t>
            </a:r>
            <a:endParaRPr/>
          </a:p>
        </p:txBody>
      </p:sp>
      <p:sp>
        <p:nvSpPr>
          <p:cNvPr id="146" name="Google Shape;146;p14"/>
          <p:cNvSpPr txBox="1"/>
          <p:nvPr/>
        </p:nvSpPr>
        <p:spPr>
          <a:xfrm>
            <a:off x="3284190" y="6219825"/>
            <a:ext cx="288280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보관 정책:</a:t>
            </a:r>
            <a:r>
              <a:rPr lang="en-US" sz="1125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품목은 논리 보관, 장부는 보존</a:t>
            </a:r>
            <a:endParaRPr/>
          </a:p>
        </p:txBody>
      </p:sp>
      <p:sp>
        <p:nvSpPr>
          <p:cNvPr id="147" name="Google Shape;147;p14"/>
          <p:cNvSpPr txBox="1"/>
          <p:nvPr/>
        </p:nvSpPr>
        <p:spPr>
          <a:xfrm>
            <a:off x="1114425" y="5181600"/>
            <a:ext cx="6416352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1E40AF"/>
                </a:solidFill>
                <a:latin typeface="Noto Sans KR"/>
                <a:ea typeface="Noto Sans KR"/>
                <a:cs typeface="Noto Sans KR"/>
                <a:sym typeface="Noto Sans KR"/>
              </a:rPr>
              <a:t>검증 원칙:</a:t>
            </a:r>
            <a:r>
              <a:rPr lang="en-US" sz="1125" b="0" i="0" u="none" strike="noStrike" cap="none">
                <a:solidFill>
                  <a:srgbClr val="1E40AF"/>
                </a:solidFill>
                <a:latin typeface="Noto Sans KR"/>
                <a:ea typeface="Noto Sans KR"/>
                <a:cs typeface="Noto Sans KR"/>
                <a:sym typeface="Noto Sans KR"/>
              </a:rPr>
              <a:t> 미측정 절감·정확도는 성과로 주장하지 않음</a:t>
            </a:r>
            <a:endParaRPr/>
          </a:p>
        </p:txBody>
      </p:sp>
      <p:sp>
        <p:nvSpPr>
          <p:cNvPr id="148" name="Google Shape;148;p14"/>
          <p:cNvSpPr txBox="1"/>
          <p:nvPr/>
        </p:nvSpPr>
        <p:spPr>
          <a:xfrm>
            <a:off x="1381125" y="1995487"/>
            <a:ext cx="2708736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수량·단위 검증 규칙</a:t>
            </a:r>
            <a:endParaRPr/>
          </a:p>
        </p:txBody>
      </p:sp>
      <p:sp>
        <p:nvSpPr>
          <p:cNvPr id="149" name="Google Shape;149;p14"/>
          <p:cNvSpPr txBox="1"/>
          <p:nvPr/>
        </p:nvSpPr>
        <p:spPr>
          <a:xfrm>
            <a:off x="489458" y="2647950"/>
            <a:ext cx="6344915" cy="30852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>기준 수량 = 입력 수량 × 포장당 기준 수량</a:t>
            </a:r>
            <a:r>
              <a:rPr lang="en-US" sz="1374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r>
              <a:rPr lang="en-US" sz="1650" b="1" i="0" u="none" strike="noStrike" cap="none">
                <a:solidFill>
                  <a:srgbClr val="2563EB"/>
                </a:solidFill>
                <a:latin typeface="Inter"/>
                <a:ea typeface="Inter"/>
                <a:cs typeface="Inter"/>
                <a:sym typeface="Inter"/>
              </a:rPr>
              <a:t/>
            </a:r>
            <a:endParaRPr/>
          </a:p>
        </p:txBody>
      </p:sp>
      <p:sp>
        <p:nvSpPr>
          <p:cNvPr id="150" name="Google Shape;150;p14"/>
          <p:cNvSpPr txBox="1"/>
          <p:nvPr/>
        </p:nvSpPr>
        <p:spPr>
          <a:xfrm>
            <a:off x="923925" y="3346995"/>
            <a:ext cx="684497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허용 단위: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기준 단위 또는 등록된 포장 단위</a:t>
            </a:r>
            <a:endParaRPr/>
          </a:p>
        </p:txBody>
      </p:sp>
      <p:sp>
        <p:nvSpPr>
          <p:cNvPr id="151" name="Google Shape;151;p14"/>
          <p:cNvSpPr txBox="1"/>
          <p:nvPr/>
        </p:nvSpPr>
        <p:spPr>
          <a:xfrm>
            <a:off x="923925" y="3697485"/>
            <a:ext cx="6844977" cy="296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잔량 검증:</a:t>
            </a:r>
            <a:r>
              <a:rPr lang="en-US" sz="999" b="1" i="0" u="none" strike="noStrike" cap="non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200" b="1" i="0" u="none" strike="noStrike" cap="non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2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음수 출고·미등록 단위는 거부</a:t>
            </a:r>
            <a:endParaRPr/>
          </a:p>
        </p:txBody>
      </p:sp>
      <p:sp>
        <p:nvSpPr>
          <p:cNvPr id="152" name="Google Shape;152;p14"/>
          <p:cNvSpPr txBox="1"/>
          <p:nvPr/>
        </p:nvSpPr>
        <p:spPr>
          <a:xfrm>
            <a:off x="923925" y="4070598"/>
            <a:ext cx="6844977" cy="2742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i="0" u="none" strike="noStrike" cap="non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정밀도:</a:t>
            </a:r>
            <a:r>
              <a:rPr lang="en-US" sz="1200" b="0" i="0" u="none" strike="noStrike" cap="none">
                <a:solidFill>
                  <a:srgbClr val="475569"/>
                </a:solidFill>
                <a:latin typeface="Noto Sans KR"/>
                <a:ea typeface="Noto Sans KR"/>
                <a:cs typeface="Noto Sans KR"/>
                <a:sym typeface="Noto Sans KR"/>
              </a:rPr>
              <a:t> PostgreSQL NUMERIC(20,6)</a:t>
            </a:r>
            <a:endParaRPr/>
          </a:p>
        </p:txBody>
      </p:sp>
      <p:sp>
        <p:nvSpPr>
          <p:cNvPr id="153" name="Google Shape;153;p14"/>
          <p:cNvSpPr txBox="1"/>
          <p:nvPr/>
        </p:nvSpPr>
        <p:spPr>
          <a:xfrm>
            <a:off x="7904857" y="1971675"/>
            <a:ext cx="428714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감사 가능한 변경</a:t>
            </a:r>
            <a:endParaRPr/>
          </a:p>
        </p:txBody>
      </p:sp>
      <p:sp>
        <p:nvSpPr>
          <p:cNvPr id="154" name="Google Shape;154;p14"/>
          <p:cNvSpPr txBox="1"/>
          <p:nvPr/>
        </p:nvSpPr>
        <p:spPr>
          <a:xfrm>
            <a:off x="7904857" y="2238375"/>
            <a:ext cx="353466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재고와 장부·감사 이벤트를 한 트랜잭션에 저장</a:t>
            </a:r>
            <a:endParaRPr/>
          </a:p>
        </p:txBody>
      </p:sp>
      <p:sp>
        <p:nvSpPr>
          <p:cNvPr id="155" name="Google Shape;155;p14"/>
          <p:cNvSpPr txBox="1"/>
          <p:nvPr/>
        </p:nvSpPr>
        <p:spPr>
          <a:xfrm>
            <a:off x="7904857" y="3419475"/>
            <a:ext cx="428714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과거 거래 승인</a:t>
            </a:r>
            <a:endParaRPr/>
          </a:p>
        </p:txBody>
      </p:sp>
      <p:sp>
        <p:nvSpPr>
          <p:cNvPr id="156" name="Google Shape;156;p14"/>
          <p:cNvSpPr txBox="1"/>
          <p:nvPr/>
        </p:nvSpPr>
        <p:spPr>
          <a:xfrm>
            <a:off x="7904857" y="3686175"/>
            <a:ext cx="353466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역산 기초 잔액·시간순 잔량을 검증 후 장부에 추가</a:t>
            </a:r>
            <a:endParaRPr/>
          </a:p>
        </p:txBody>
      </p:sp>
      <p:sp>
        <p:nvSpPr>
          <p:cNvPr id="157" name="Google Shape;157;p14"/>
          <p:cNvSpPr txBox="1"/>
          <p:nvPr/>
        </p:nvSpPr>
        <p:spPr>
          <a:xfrm>
            <a:off x="7904857" y="4867275"/>
            <a:ext cx="4287142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1" i="0" u="none" strike="noStrike" cap="non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비전 추정 검토</a:t>
            </a:r>
            <a:endParaRPr/>
          </a:p>
        </p:txBody>
      </p:sp>
      <p:sp>
        <p:nvSpPr>
          <p:cNvPr id="158" name="Google Shape;158;p14"/>
          <p:cNvSpPr txBox="1"/>
          <p:nvPr/>
        </p:nvSpPr>
        <p:spPr>
          <a:xfrm>
            <a:off x="7904857" y="5133975"/>
            <a:ext cx="3534667" cy="3619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분석 결과는 대기 저장; 관리자 승인 전 잔량 유지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5"/>
          <p:cNvSpPr/>
          <p:nvPr/>
        </p:nvSpPr>
        <p:spPr>
          <a:xfrm>
            <a:off x="609600" y="6057900"/>
            <a:ext cx="1097280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4" name="Google Shape;164;p15"/>
          <p:cNvSpPr/>
          <p:nvPr/>
        </p:nvSpPr>
        <p:spPr>
          <a:xfrm>
            <a:off x="609600" y="1638300"/>
            <a:ext cx="5372100" cy="4191000"/>
          </a:xfrm>
          <a:prstGeom prst="roundRect">
            <a:avLst>
              <a:gd name="adj" fmla="val 3636"/>
            </a:avLst>
          </a:prstGeom>
          <a:solidFill>
            <a:srgbClr val="F0FDF4"/>
          </a:solidFill>
          <a:ln w="19050" cap="flat" cmpd="sng">
            <a:solidFill>
              <a:srgbClr val="86EFA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5" name="Google Shape;165;p15"/>
          <p:cNvSpPr/>
          <p:nvPr/>
        </p:nvSpPr>
        <p:spPr>
          <a:xfrm>
            <a:off x="6210300" y="1638300"/>
            <a:ext cx="5372100" cy="4191000"/>
          </a:xfrm>
          <a:prstGeom prst="roundRect">
            <a:avLst>
              <a:gd name="adj" fmla="val 3636"/>
            </a:avLst>
          </a:prstGeom>
          <a:solidFill>
            <a:srgbClr val="EFF6FF"/>
          </a:solidFill>
          <a:ln w="19050" cap="flat" cmpd="sng">
            <a:solidFill>
              <a:srgbClr val="3B82F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15"/>
          <p:cNvSpPr/>
          <p:nvPr/>
        </p:nvSpPr>
        <p:spPr>
          <a:xfrm>
            <a:off x="609600" y="6057900"/>
            <a:ext cx="10972800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15"/>
          <p:cNvSpPr/>
          <p:nvPr/>
        </p:nvSpPr>
        <p:spPr>
          <a:xfrm>
            <a:off x="8724900" y="695325"/>
            <a:ext cx="2857500" cy="714375"/>
          </a:xfrm>
          <a:prstGeom prst="roundRect">
            <a:avLst>
              <a:gd name="adj" fmla="val 16000"/>
            </a:avLst>
          </a:prstGeom>
          <a:solidFill>
            <a:srgbClr val="F1F5F9"/>
          </a:solidFill>
          <a:ln w="9525" cap="flat" cmpd="sng">
            <a:solidFill>
              <a:srgbClr val="E2E8F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8" name="Google Shape;168;p15"/>
          <p:cNvSpPr/>
          <p:nvPr/>
        </p:nvSpPr>
        <p:spPr>
          <a:xfrm>
            <a:off x="895350" y="5114925"/>
            <a:ext cx="4800600" cy="428625"/>
          </a:xfrm>
          <a:prstGeom prst="roundRect">
            <a:avLst>
              <a:gd name="adj" fmla="val 17777"/>
            </a:avLst>
          </a:prstGeom>
          <a:solidFill>
            <a:srgbClr val="FFFFFF"/>
          </a:solidFill>
          <a:ln w="9525" cap="flat" cmpd="sng">
            <a:solidFill>
              <a:srgbClr val="BBF7D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15"/>
          <p:cNvSpPr/>
          <p:nvPr/>
        </p:nvSpPr>
        <p:spPr>
          <a:xfrm>
            <a:off x="6496050" y="5114925"/>
            <a:ext cx="4800600" cy="428625"/>
          </a:xfrm>
          <a:prstGeom prst="roundRect">
            <a:avLst>
              <a:gd name="adj" fmla="val 17777"/>
            </a:avLst>
          </a:prstGeom>
          <a:solidFill>
            <a:srgbClr val="FFFFFF"/>
          </a:solidFill>
          <a:ln w="9525" cap="flat" cmpd="sng">
            <a:solidFill>
              <a:srgbClr val="BFD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15"/>
          <p:cNvSpPr/>
          <p:nvPr/>
        </p:nvSpPr>
        <p:spPr>
          <a:xfrm>
            <a:off x="8886825" y="1133475"/>
            <a:ext cx="2533650" cy="114300"/>
          </a:xfrm>
          <a:prstGeom prst="roundRect">
            <a:avLst>
              <a:gd name="adj" fmla="val 50000"/>
            </a:avLst>
          </a:prstGeom>
          <a:solidFill>
            <a:srgbClr val="E2E8F0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15"/>
          <p:cNvSpPr/>
          <p:nvPr/>
        </p:nvSpPr>
        <p:spPr>
          <a:xfrm>
            <a:off x="8886825" y="1133475"/>
            <a:ext cx="994022" cy="114300"/>
          </a:xfrm>
          <a:prstGeom prst="roundRect">
            <a:avLst>
              <a:gd name="adj" fmla="val 50000"/>
            </a:avLst>
          </a:prstGeom>
          <a:solidFill>
            <a:srgbClr val="3073F1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5"/>
          <p:cNvSpPr/>
          <p:nvPr/>
        </p:nvSpPr>
        <p:spPr>
          <a:xfrm>
            <a:off x="895350" y="1924050"/>
            <a:ext cx="2124372" cy="247650"/>
          </a:xfrm>
          <a:prstGeom prst="roundRect">
            <a:avLst>
              <a:gd name="adj" fmla="val 50000"/>
            </a:avLst>
          </a:prstGeom>
          <a:solidFill>
            <a:srgbClr val="DCFCE7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15"/>
          <p:cNvSpPr/>
          <p:nvPr/>
        </p:nvSpPr>
        <p:spPr>
          <a:xfrm>
            <a:off x="6496050" y="1924050"/>
            <a:ext cx="1694110" cy="247650"/>
          </a:xfrm>
          <a:prstGeom prst="roundRect">
            <a:avLst>
              <a:gd name="adj" fmla="val 50000"/>
            </a:avLst>
          </a:prstGeom>
          <a:solidFill>
            <a:srgbClr val="DBEAFE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74" name="Google Shape;174;p15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532834" y="1943100"/>
            <a:ext cx="16311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5" name="Google Shape;175;p15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133534" y="1943100"/>
            <a:ext cx="163115" cy="209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76" name="Google Shape;176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96050" y="3086100"/>
            <a:ext cx="111174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7" name="Google Shape;177;p15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6496050" y="3405187"/>
            <a:ext cx="111174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8" name="Google Shape;178;p15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6496050" y="3724275"/>
            <a:ext cx="111174" cy="142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5350" y="3076575"/>
            <a:ext cx="111174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5350" y="3395662"/>
            <a:ext cx="111174" cy="1619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1" name="Google Shape;181;p15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895350" y="3714750"/>
            <a:ext cx="111174" cy="161925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5"/>
          <p:cNvSpPr txBox="1"/>
          <p:nvPr/>
        </p:nvSpPr>
        <p:spPr>
          <a:xfrm>
            <a:off x="609600" y="457200"/>
            <a:ext cx="11582400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SLIDE 03 · DELIVERY &amp; VERIFICATION</a:t>
            </a:r>
            <a:endParaRPr/>
          </a:p>
        </p:txBody>
      </p:sp>
      <p:sp>
        <p:nvSpPr>
          <p:cNvPr id="183" name="Google Shape;183;p15"/>
          <p:cNvSpPr txBox="1"/>
          <p:nvPr/>
        </p:nvSpPr>
        <p:spPr>
          <a:xfrm>
            <a:off x="609600" y="6219825"/>
            <a:ext cx="4009429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1" i="0" u="none" strike="noStrike" cap="non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검증일:</a:t>
            </a:r>
            <a:r>
              <a:rPr lang="en-US" sz="1125" b="0" i="0" u="none" strike="noStrike" cap="non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 2026년 10월 7일</a:t>
            </a:r>
            <a:endParaRPr/>
          </a:p>
        </p:txBody>
      </p:sp>
      <p:sp>
        <p:nvSpPr>
          <p:cNvPr id="184" name="Google Shape;184;p15"/>
          <p:cNvSpPr txBox="1"/>
          <p:nvPr/>
        </p:nvSpPr>
        <p:spPr>
          <a:xfrm>
            <a:off x="9670107" y="6234112"/>
            <a:ext cx="2390365" cy="15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0" i="0" u="none" strike="noStrike" cap="none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SmartStock WMS · Status</a:t>
            </a:r>
            <a:endParaRPr/>
          </a:p>
        </p:txBody>
      </p:sp>
      <p:sp>
        <p:nvSpPr>
          <p:cNvPr id="185" name="Google Shape;185;p15"/>
          <p:cNvSpPr txBox="1"/>
          <p:nvPr/>
        </p:nvSpPr>
        <p:spPr>
          <a:xfrm>
            <a:off x="409575" y="5229225"/>
            <a:ext cx="57721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5803D"/>
                </a:solidFill>
                <a:latin typeface="Noto Sans KR"/>
                <a:ea typeface="Noto Sans KR"/>
                <a:cs typeface="Noto Sans KR"/>
                <a:sym typeface="Noto Sans KR"/>
              </a:rPr>
              <a:t>완료: 핵심 데이터 흐름 API/DB 검증</a:t>
            </a:r>
            <a:endParaRPr/>
          </a:p>
        </p:txBody>
      </p:sp>
      <p:sp>
        <p:nvSpPr>
          <p:cNvPr id="186" name="Google Shape;186;p15"/>
          <p:cNvSpPr txBox="1"/>
          <p:nvPr/>
        </p:nvSpPr>
        <p:spPr>
          <a:xfrm>
            <a:off x="6010275" y="5229225"/>
            <a:ext cx="5772150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D4ED8"/>
                </a:solidFill>
                <a:latin typeface="Noto Sans KR"/>
                <a:ea typeface="Noto Sans KR"/>
                <a:cs typeface="Noto Sans KR"/>
                <a:sym typeface="Noto Sans KR"/>
              </a:rPr>
              <a:t>다음: CI 자동화와 현장 검증</a:t>
            </a:r>
            <a:endParaRPr/>
          </a:p>
        </p:txBody>
      </p:sp>
      <p:sp>
        <p:nvSpPr>
          <p:cNvPr id="187" name="Google Shape;187;p15"/>
          <p:cNvSpPr txBox="1"/>
          <p:nvPr/>
        </p:nvSpPr>
        <p:spPr>
          <a:xfrm>
            <a:off x="609600" y="685800"/>
            <a:ext cx="8321547" cy="3693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>구현 완료 범위와 남은 검증</a:t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2400" b="1" i="0" u="none" strike="noStrike" cap="none" dirty="0" err="1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2400" b="1" i="0" u="none" strike="noStrike" cap="none" dirty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2400" b="1" i="0" u="none" strike="noStrike" cap="none" dirty="0" smtClean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2400" b="1" dirty="0" smtClean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2400" b="1" i="0" u="none" strike="noStrike" cap="none" dirty="0" smtClean="0">
                <a:solidFill>
                  <a:srgbClr val="0F172A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dirty="0"/>
          </a:p>
        </p:txBody>
      </p:sp>
      <p:sp>
        <p:nvSpPr>
          <p:cNvPr id="188" name="Google Shape;188;p15"/>
          <p:cNvSpPr txBox="1"/>
          <p:nvPr/>
        </p:nvSpPr>
        <p:spPr>
          <a:xfrm>
            <a:off x="609600" y="1181100"/>
            <a:ext cx="7925283" cy="22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50" b="0" i="0" u="none" strike="noStrike" cap="non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핵심 재고 흐름은 격리 DB에서 검증; 외부 키·장비는 미검증</a:t>
            </a:r>
            <a:endParaRPr/>
          </a:p>
        </p:txBody>
      </p:sp>
      <p:sp>
        <p:nvSpPr>
          <p:cNvPr id="189" name="Google Shape;189;p15"/>
          <p:cNvSpPr txBox="1"/>
          <p:nvPr/>
        </p:nvSpPr>
        <p:spPr>
          <a:xfrm>
            <a:off x="895350" y="2324100"/>
            <a:ext cx="6300787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4532D"/>
                </a:solidFill>
                <a:latin typeface="Noto Sans KR"/>
                <a:ea typeface="Noto Sans KR"/>
                <a:cs typeface="Noto Sans KR"/>
                <a:sym typeface="Noto Sans KR"/>
              </a:rPr>
              <a:t>구현 및 API 검증</a:t>
            </a:r>
            <a:endParaRPr/>
          </a:p>
        </p:txBody>
      </p:sp>
      <p:sp>
        <p:nvSpPr>
          <p:cNvPr id="190" name="Google Shape;190;p15"/>
          <p:cNvSpPr txBox="1"/>
          <p:nvPr/>
        </p:nvSpPr>
        <p:spPr>
          <a:xfrm>
            <a:off x="895350" y="2695575"/>
            <a:ext cx="6000750" cy="180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66534"/>
                </a:solidFill>
                <a:latin typeface="Noto Sans KR"/>
                <a:ea typeface="Noto Sans KR"/>
                <a:cs typeface="Noto Sans KR"/>
                <a:sym typeface="Noto Sans KR"/>
              </a:rPr>
              <a:t>2026-10-07 · Rust/Next 빌드 통과</a:t>
            </a:r>
            <a:endParaRPr/>
          </a:p>
        </p:txBody>
      </p:sp>
      <p:sp>
        <p:nvSpPr>
          <p:cNvPr id="191" name="Google Shape;191;p15"/>
          <p:cNvSpPr txBox="1"/>
          <p:nvPr/>
        </p:nvSpPr>
        <p:spPr>
          <a:xfrm>
            <a:off x="6496050" y="2324100"/>
            <a:ext cx="5695950" cy="2571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1" i="0" u="none" strike="noStrike" cap="none">
                <a:solidFill>
                  <a:srgbClr val="1E3A8A"/>
                </a:solidFill>
                <a:latin typeface="Noto Sans KR"/>
                <a:ea typeface="Noto Sans KR"/>
                <a:cs typeface="Noto Sans KR"/>
                <a:sym typeface="Noto Sans KR"/>
              </a:rPr>
              <a:t>현장·외부 제공자 검증</a:t>
            </a:r>
            <a:endParaRPr/>
          </a:p>
        </p:txBody>
      </p:sp>
      <p:sp>
        <p:nvSpPr>
          <p:cNvPr id="192" name="Google Shape;192;p15"/>
          <p:cNvSpPr txBox="1"/>
          <p:nvPr/>
        </p:nvSpPr>
        <p:spPr>
          <a:xfrm>
            <a:off x="6496050" y="2695575"/>
            <a:ext cx="5695950" cy="17312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 dirty="0">
                <a:solidFill>
                  <a:srgbClr val="1E40AF"/>
                </a:solidFill>
                <a:latin typeface="Noto Sans KR"/>
                <a:ea typeface="Noto Sans KR"/>
                <a:cs typeface="Noto Sans KR"/>
                <a:sym typeface="Noto Sans KR"/>
              </a:rPr>
              <a:t>키·기기 접근이 가능한 운영 환경 필요</a:t>
            </a:r>
            <a:r>
              <a:rPr lang="en-US" sz="1125" b="0" i="0" u="none" strike="noStrike" cap="none" dirty="0" smtClean="0">
                <a:solidFill>
                  <a:srgbClr val="1E40A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125" b="0" i="0" u="none" strike="noStrike" cap="none" dirty="0" err="1">
                <a:solidFill>
                  <a:srgbClr val="1E40A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dirty="0"/>
          </a:p>
        </p:txBody>
      </p:sp>
      <p:sp>
        <p:nvSpPr>
          <p:cNvPr id="193" name="Google Shape;193;p15"/>
          <p:cNvSpPr txBox="1"/>
          <p:nvPr/>
        </p:nvSpPr>
        <p:spPr>
          <a:xfrm>
            <a:off x="8886825" y="857250"/>
            <a:ext cx="799058" cy="2000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050" b="1" i="0" u="none" strike="noStrike" cap="none">
                <a:solidFill>
                  <a:srgbClr val="1E293B"/>
                </a:solidFill>
                <a:latin typeface="Noto Sans KR"/>
                <a:ea typeface="Noto Sans KR"/>
                <a:cs typeface="Noto Sans KR"/>
                <a:sym typeface="Noto Sans KR"/>
              </a:rPr>
              <a:t>Rust 단위 테스트</a:t>
            </a:r>
            <a:endParaRPr/>
          </a:p>
        </p:txBody>
      </p:sp>
      <p:sp>
        <p:nvSpPr>
          <p:cNvPr id="194" name="Google Shape;194;p15"/>
          <p:cNvSpPr txBox="1"/>
          <p:nvPr/>
        </p:nvSpPr>
        <p:spPr>
          <a:xfrm>
            <a:off x="10768310" y="857250"/>
            <a:ext cx="937914" cy="1846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200" b="1" dirty="0" smtClean="0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>5 / 5</a:t>
            </a:r>
            <a:r>
              <a:rPr lang="en-US" sz="1200" b="1" i="0" u="none" strike="noStrike" cap="none" dirty="0" smtClean="0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200" b="1" i="0" u="none" strike="noStrike" cap="none" dirty="0" err="1">
                <a:solidFill>
                  <a:srgbClr val="2563EB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dirty="0"/>
          </a:p>
        </p:txBody>
      </p:sp>
      <p:sp>
        <p:nvSpPr>
          <p:cNvPr id="195" name="Google Shape;195;p15"/>
          <p:cNvSpPr txBox="1"/>
          <p:nvPr/>
        </p:nvSpPr>
        <p:spPr>
          <a:xfrm>
            <a:off x="1009650" y="1962150"/>
            <a:ext cx="1991022" cy="171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>
                <a:solidFill>
                  <a:srgbClr val="166534"/>
                </a:solidFill>
                <a:latin typeface="Noto Sans KR"/>
                <a:ea typeface="Noto Sans KR"/>
                <a:cs typeface="Noto Sans KR"/>
                <a:sym typeface="Noto Sans KR"/>
              </a:rPr>
              <a:t>격리 DB 통합 흐름</a:t>
            </a:r>
            <a:endParaRPr/>
          </a:p>
        </p:txBody>
      </p:sp>
      <p:sp>
        <p:nvSpPr>
          <p:cNvPr id="196" name="Google Shape;196;p15"/>
          <p:cNvSpPr txBox="1"/>
          <p:nvPr/>
        </p:nvSpPr>
        <p:spPr>
          <a:xfrm>
            <a:off x="895350" y="3028950"/>
            <a:ext cx="600075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8300" tIns="0" rIns="0" bIns="0" anchor="t" anchorCtr="0">
            <a:spAutoFit/>
          </a:bodyPr>
          <a:lstStyle/>
          <a:p>
            <a:pPr marL="0" marR="0" lvl="0" indent="0" algn="l" rtl="0">
              <a:lnSpc>
                <a:spcPct val="16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5803D"/>
                </a:solidFill>
                <a:latin typeface="Noto Sans KR"/>
                <a:ea typeface="Noto Sans KR"/>
                <a:cs typeface="Noto Sans KR"/>
                <a:sym typeface="Noto Sans KR"/>
              </a:rPr>
              <a:t>소수 수량·포장 단위 입출고</a:t>
            </a:r>
            <a:endParaRPr/>
          </a:p>
        </p:txBody>
      </p:sp>
      <p:sp>
        <p:nvSpPr>
          <p:cNvPr id="197" name="Google Shape;197;p15"/>
          <p:cNvSpPr txBox="1"/>
          <p:nvPr/>
        </p:nvSpPr>
        <p:spPr>
          <a:xfrm>
            <a:off x="895350" y="3348037"/>
            <a:ext cx="600075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8300" tIns="0" rIns="0" bIns="0" anchor="t" anchorCtr="0">
            <a:spAutoFit/>
          </a:bodyPr>
          <a:lstStyle/>
          <a:p>
            <a:pPr marL="0" marR="0" lvl="0" indent="0" algn="l" rtl="0">
              <a:lnSpc>
                <a:spcPct val="16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5803D"/>
                </a:solidFill>
                <a:latin typeface="Noto Sans KR"/>
                <a:ea typeface="Noto Sans KR"/>
                <a:cs typeface="Noto Sans KR"/>
                <a:sym typeface="Noto Sans KR"/>
              </a:rPr>
              <a:t>과거 거래·비전 승인과 잔량 검증</a:t>
            </a:r>
            <a:endParaRPr/>
          </a:p>
        </p:txBody>
      </p:sp>
      <p:sp>
        <p:nvSpPr>
          <p:cNvPr id="198" name="Google Shape;198;p15"/>
          <p:cNvSpPr txBox="1"/>
          <p:nvPr/>
        </p:nvSpPr>
        <p:spPr>
          <a:xfrm>
            <a:off x="895350" y="3667125"/>
            <a:ext cx="600075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8300" tIns="0" rIns="0" bIns="0" anchor="t" anchorCtr="0">
            <a:spAutoFit/>
          </a:bodyPr>
          <a:lstStyle/>
          <a:p>
            <a:pPr marL="0" marR="0" lvl="0" indent="0" algn="l" rtl="0">
              <a:lnSpc>
                <a:spcPct val="16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5803D"/>
                </a:solidFill>
                <a:latin typeface="Noto Sans KR"/>
                <a:ea typeface="Noto Sans KR"/>
                <a:cs typeface="Noto Sans KR"/>
                <a:sym typeface="Noto Sans KR"/>
              </a:rPr>
              <a:t>논리 보관·감사 기록·단위별 구역</a:t>
            </a:r>
            <a:endParaRPr/>
          </a:p>
        </p:txBody>
      </p:sp>
      <p:sp>
        <p:nvSpPr>
          <p:cNvPr id="199" name="Google Shape;199;p15"/>
          <p:cNvSpPr txBox="1"/>
          <p:nvPr/>
        </p:nvSpPr>
        <p:spPr>
          <a:xfrm>
            <a:off x="6610350" y="1962150"/>
            <a:ext cx="1560760" cy="1500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975" b="1" i="0" u="none" strike="noStrike" cap="none" dirty="0">
                <a:solidFill>
                  <a:srgbClr val="1E40AF"/>
                </a:solidFill>
                <a:latin typeface="Noto Sans KR"/>
                <a:ea typeface="Noto Sans KR"/>
                <a:cs typeface="Noto Sans KR"/>
                <a:sym typeface="Noto Sans KR"/>
              </a:rPr>
              <a:t>NEXT · </a:t>
            </a:r>
            <a:r>
              <a:rPr lang="en-US" sz="975" b="1" i="0" u="none" strike="noStrike" cap="none" dirty="0" err="1">
                <a:solidFill>
                  <a:srgbClr val="1E40AF"/>
                </a:solidFill>
                <a:latin typeface="Noto Sans KR"/>
                <a:ea typeface="Noto Sans KR"/>
                <a:cs typeface="Noto Sans KR"/>
                <a:sym typeface="Noto Sans KR"/>
              </a:rPr>
              <a:t>CI/현장</a:t>
            </a:r>
            <a:r>
              <a:rPr lang="en-US" sz="975" b="1" i="0" u="none" strike="noStrike" cap="none" dirty="0">
                <a:solidFill>
                  <a:srgbClr val="1E40A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975" b="1" i="0" u="none" strike="noStrike" cap="none" dirty="0" err="1">
                <a:solidFill>
                  <a:srgbClr val="1E40AF"/>
                </a:solidFill>
                <a:latin typeface="Noto Sans KR"/>
                <a:ea typeface="Noto Sans KR"/>
                <a:cs typeface="Noto Sans KR"/>
                <a:sym typeface="Noto Sans KR"/>
              </a:rPr>
              <a:t> 검증</a:t>
            </a:r>
            <a:r>
              <a:rPr lang="en-US" sz="975" b="1" i="0" u="none" strike="noStrike" cap="none" dirty="0">
                <a:solidFill>
                  <a:srgbClr val="1E40AF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dirty="0"/>
          </a:p>
        </p:txBody>
      </p:sp>
      <p:sp>
        <p:nvSpPr>
          <p:cNvPr id="200" name="Google Shape;200;p15"/>
          <p:cNvSpPr txBox="1"/>
          <p:nvPr/>
        </p:nvSpPr>
        <p:spPr>
          <a:xfrm>
            <a:off x="6496050" y="3028950"/>
            <a:ext cx="569595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8300" tIns="0" rIns="0" bIns="0" anchor="t" anchorCtr="0">
            <a:spAutoFit/>
          </a:bodyPr>
          <a:lstStyle/>
          <a:p>
            <a:pPr marL="0" marR="0" lvl="0" indent="0" algn="l" rtl="0">
              <a:lnSpc>
                <a:spcPct val="16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D4ED8"/>
                </a:solidFill>
                <a:latin typeface="Noto Sans KR"/>
                <a:ea typeface="Noto Sans KR"/>
                <a:cs typeface="Noto Sans KR"/>
                <a:sym typeface="Noto Sans KR"/>
              </a:rPr>
              <a:t>Qwen Vision · WMS 경유 실호출 검증</a:t>
            </a:r>
            <a:endParaRPr/>
          </a:p>
        </p:txBody>
      </p:sp>
      <p:sp>
        <p:nvSpPr>
          <p:cNvPr id="201" name="Google Shape;201;p15"/>
          <p:cNvSpPr txBox="1"/>
          <p:nvPr/>
        </p:nvSpPr>
        <p:spPr>
          <a:xfrm>
            <a:off x="6496050" y="3348037"/>
            <a:ext cx="569595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8300" tIns="0" rIns="0" bIns="0" anchor="t" anchorCtr="0">
            <a:spAutoFit/>
          </a:bodyPr>
          <a:lstStyle/>
          <a:p>
            <a:pPr marL="0" marR="0" lvl="0" indent="0" algn="l" rtl="0">
              <a:lnSpc>
                <a:spcPct val="16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D4ED8"/>
                </a:solidFill>
                <a:latin typeface="Noto Sans KR"/>
                <a:ea typeface="Noto Sans KR"/>
                <a:cs typeface="Noto Sans KR"/>
                <a:sym typeface="Noto Sans KR"/>
              </a:rPr>
              <a:t>SweetTracker 키 미설정 · 실조회 보류</a:t>
            </a:r>
            <a:endParaRPr/>
          </a:p>
        </p:txBody>
      </p:sp>
      <p:sp>
        <p:nvSpPr>
          <p:cNvPr id="202" name="Google Shape;202;p15"/>
          <p:cNvSpPr txBox="1"/>
          <p:nvPr/>
        </p:nvSpPr>
        <p:spPr>
          <a:xfrm>
            <a:off x="6496050" y="3667125"/>
            <a:ext cx="5695950" cy="2428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68300" tIns="0" rIns="0" bIns="0" anchor="t" anchorCtr="0">
            <a:spAutoFit/>
          </a:bodyPr>
          <a:lstStyle/>
          <a:p>
            <a:pPr marL="0" marR="0" lvl="0" indent="0" algn="l" rtl="0">
              <a:lnSpc>
                <a:spcPct val="16995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1D4ED8"/>
                </a:solidFill>
                <a:latin typeface="Noto Sans KR"/>
                <a:ea typeface="Noto Sans KR"/>
                <a:cs typeface="Noto Sans KR"/>
                <a:sym typeface="Noto Sans KR"/>
              </a:rPr>
              <a:t>운영 장부 축적 후 실측 MAPE 평가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F172A"/>
        </a:solidFill>
        <a:effectLst/>
      </p:bgPr>
    </p:bg>
    <p:spTree>
      <p:nvGrpSpPr>
        <p:cNvPr id="1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p17"/>
          <p:cNvSpPr/>
          <p:nvPr/>
        </p:nvSpPr>
        <p:spPr>
          <a:xfrm>
            <a:off x="5810250" y="4424362"/>
            <a:ext cx="571500" cy="28575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245" name="Google Shape;245;p1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53100" y="2014537"/>
            <a:ext cx="685800" cy="6858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46" name="Google Shape;246;p1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977383" y="2205037"/>
            <a:ext cx="237083" cy="304800"/>
          </a:xfrm>
          <a:prstGeom prst="rect">
            <a:avLst/>
          </a:prstGeom>
          <a:noFill/>
          <a:ln>
            <a:noFill/>
          </a:ln>
        </p:spPr>
      </p:pic>
      <p:sp>
        <p:nvSpPr>
          <p:cNvPr id="247" name="Google Shape;247;p17"/>
          <p:cNvSpPr txBox="1"/>
          <p:nvPr/>
        </p:nvSpPr>
        <p:spPr>
          <a:xfrm>
            <a:off x="2917696" y="2928937"/>
            <a:ext cx="6356458" cy="5619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300" b="1" i="0" u="none" strike="noStrike" cap="none">
                <a:solidFill>
                  <a:srgbClr val="FFFFFF"/>
                </a:solidFill>
                <a:latin typeface="Noto Sans KR"/>
                <a:ea typeface="Noto Sans KR"/>
                <a:cs typeface="Noto Sans KR"/>
                <a:sym typeface="Noto Sans KR"/>
              </a:rPr>
              <a:t>질의응답 및 다음 검증 단계</a:t>
            </a:r>
            <a:endParaRPr/>
          </a:p>
        </p:txBody>
      </p:sp>
      <p:sp>
        <p:nvSpPr>
          <p:cNvPr id="248" name="Google Shape;248;p17"/>
          <p:cNvSpPr txBox="1"/>
          <p:nvPr/>
        </p:nvSpPr>
        <p:spPr>
          <a:xfrm>
            <a:off x="2286000" y="3643312"/>
            <a:ext cx="7620000" cy="2308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>Qwen Vision API 경로 검증 완료 · SweetTracker 키와 현장 장비 검증은 잔여 항목 · Q&amp;A</a:t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500" b="0" i="0" u="none" strike="noStrike" cap="none" dirty="0" smtClean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500" dirty="0" smtClean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500" b="0" i="0" u="none" strike="noStrike" cap="none" dirty="0" smtClean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500" b="0" i="0" u="none" strike="noStrike" cap="none" dirty="0" err="1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r>
              <a:rPr lang="en-US" sz="1500" b="0" i="0" u="none" strike="noStrike" cap="none" dirty="0">
                <a:solidFill>
                  <a:srgbClr val="94A3B8"/>
                </a:solidFill>
                <a:latin typeface="Noto Sans KR"/>
                <a:ea typeface="Noto Sans KR"/>
                <a:cs typeface="Noto Sans KR"/>
                <a:sym typeface="Noto Sans KR"/>
              </a:rPr>
              <a:t/>
            </a:r>
            <a:endParaRPr dirty="0"/>
          </a:p>
        </p:txBody>
      </p:sp>
      <p:sp>
        <p:nvSpPr>
          <p:cNvPr id="249" name="Google Shape;249;p17"/>
          <p:cNvSpPr txBox="1"/>
          <p:nvPr/>
        </p:nvSpPr>
        <p:spPr>
          <a:xfrm>
            <a:off x="4008518" y="4681537"/>
            <a:ext cx="4174814" cy="1619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125" b="0" i="0" u="none" strike="noStrike" cap="none">
                <a:solidFill>
                  <a:srgbClr val="64748B"/>
                </a:solidFill>
                <a:latin typeface="Noto Sans KR"/>
                <a:ea typeface="Noto Sans KR"/>
                <a:cs typeface="Noto Sans KR"/>
                <a:sym typeface="Noto Sans KR"/>
              </a:rPr>
              <a:t>SMARTSTOCK AI WMS · STATUS AS OF 2026-10-07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439</Words>
  <Application>Microsoft Office PowerPoint</Application>
  <PresentationFormat>와이드스크린</PresentationFormat>
  <Paragraphs>62</Paragraphs>
  <Slides>4</Slides>
  <Notes>4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9" baseType="lpstr">
      <vt:lpstr>Calibri</vt:lpstr>
      <vt:lpstr>Noto Sans KR</vt:lpstr>
      <vt:lpstr>Arial</vt:lpstr>
      <vt:lpstr>Inter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cp:lastModifiedBy>user</cp:lastModifiedBy>
  <cp:revision>3</cp:revision>
  <dcterms:modified xsi:type="dcterms:W3CDTF">2026-10-01T00:11:03Z</dcterms:modified>
</cp:coreProperties>
</file>